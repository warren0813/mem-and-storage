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2"/>
  </p:notesMasterIdLst>
  <p:sldIdLst>
    <p:sldId id="256" r:id="rId2"/>
    <p:sldId id="611" r:id="rId3"/>
    <p:sldId id="603" r:id="rId4"/>
    <p:sldId id="604" r:id="rId5"/>
    <p:sldId id="605" r:id="rId6"/>
    <p:sldId id="607" r:id="rId7"/>
    <p:sldId id="608" r:id="rId8"/>
    <p:sldId id="609" r:id="rId9"/>
    <p:sldId id="610" r:id="rId10"/>
    <p:sldId id="60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B4517C96-A015-E94E-AC2D-381692E4D3EF}">
          <p14:sldIdLst>
            <p14:sldId id="256"/>
            <p14:sldId id="611"/>
            <p14:sldId id="603"/>
            <p14:sldId id="604"/>
            <p14:sldId id="605"/>
            <p14:sldId id="607"/>
            <p14:sldId id="608"/>
            <p14:sldId id="609"/>
            <p14:sldId id="610"/>
            <p14:sldId id="6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  <a:srgbClr val="FF7E79"/>
    <a:srgbClr val="FF2600"/>
    <a:srgbClr val="FF7D79"/>
    <a:srgbClr val="0C79F9"/>
    <a:srgbClr val="C2E960"/>
    <a:srgbClr val="0399DD"/>
    <a:srgbClr val="0B17C6"/>
    <a:srgbClr val="525860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7"/>
    <p:restoredTop sz="86629"/>
  </p:normalViewPr>
  <p:slideViewPr>
    <p:cSldViewPr snapToGrid="0">
      <p:cViewPr>
        <p:scale>
          <a:sx n="143" d="100"/>
          <a:sy n="143" d="100"/>
        </p:scale>
        <p:origin x="144" y="784"/>
      </p:cViewPr>
      <p:guideLst>
        <p:guide orient="horz" pos="1620"/>
        <p:guide pos="2880"/>
      </p:guideLst>
    </p:cSldViewPr>
  </p:slideViewPr>
  <p:outlineViewPr>
    <p:cViewPr>
      <p:scale>
        <a:sx n="90" d="100"/>
        <a:sy n="9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11b3a4cf7_2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13頁</a:t>
            </a:r>
          </a:p>
        </p:txBody>
      </p:sp>
      <p:sp>
        <p:nvSpPr>
          <p:cNvPr id="118" name="Google Shape;118;g611b3a4cf7_2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pptmon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MON title">
  <p:cSld name="PPTMON 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>
            <a:hlinkClick r:id="rId2"/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4235427" y="5297944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 txBox="1"/>
          <p:nvPr userDrawn="1"/>
        </p:nvSpPr>
        <p:spPr>
          <a:xfrm>
            <a:off x="3054771" y="5297944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8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0"/>
            <a:ext cx="4713317" cy="1723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55229" y="4205462"/>
            <a:ext cx="3688773" cy="938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PTMON slide">
  <p:cSld name="1_PPTMON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>
            <a:hlinkClick r:id="rId2"/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4235427" y="5297944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/>
          <p:nvPr userDrawn="1"/>
        </p:nvSpPr>
        <p:spPr>
          <a:xfrm>
            <a:off x="3054771" y="5297944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8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Presentation template by</a:t>
            </a:r>
            <a:endParaRPr sz="80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"/>
            <a:ext cx="1892146" cy="69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68245" y="4793651"/>
            <a:ext cx="1375757" cy="3498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0697AF0-66B1-3C18-4CF6-7EE8D706C413}"/>
              </a:ext>
            </a:extLst>
          </p:cNvPr>
          <p:cNvSpPr txBox="1"/>
          <p:nvPr userDrawn="1"/>
        </p:nvSpPr>
        <p:spPr>
          <a:xfrm>
            <a:off x="8589364" y="4714407"/>
            <a:ext cx="554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47541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2687AB4-6C1D-7E53-852C-82A6688EA8D3}"/>
              </a:ext>
            </a:extLst>
          </p:cNvPr>
          <p:cNvSpPr txBox="1"/>
          <p:nvPr userDrawn="1"/>
        </p:nvSpPr>
        <p:spPr>
          <a:xfrm>
            <a:off x="8589364" y="4714407"/>
            <a:ext cx="554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sz="140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7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fio.readthedocs.io/en/latest/fio_doc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EBEE882-FFCC-F9F5-92ED-30FA7F020C57}"/>
              </a:ext>
            </a:extLst>
          </p:cNvPr>
          <p:cNvSpPr txBox="1"/>
          <p:nvPr/>
        </p:nvSpPr>
        <p:spPr>
          <a:xfrm>
            <a:off x="1027773" y="2310140"/>
            <a:ext cx="7088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/>
              <a:t>Assignment I - FIO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6339E0D-05EA-2CC9-7347-0237AECD0CFA}"/>
              </a:ext>
            </a:extLst>
          </p:cNvPr>
          <p:cNvSpPr txBox="1"/>
          <p:nvPr/>
        </p:nvSpPr>
        <p:spPr>
          <a:xfrm>
            <a:off x="2438400" y="2894915"/>
            <a:ext cx="4432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Memory and Storage System by Prof. Chun-Feng Wu</a:t>
            </a:r>
            <a:endParaRPr kumimoji="1"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BAAC953-0D1F-1688-2439-4342B665F05C}"/>
              </a:ext>
            </a:extLst>
          </p:cNvPr>
          <p:cNvSpPr txBox="1"/>
          <p:nvPr/>
        </p:nvSpPr>
        <p:spPr>
          <a:xfrm>
            <a:off x="301658" y="416623"/>
            <a:ext cx="1893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Overview</a:t>
            </a:r>
            <a:endParaRPr kumimoji="1"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FCB76B-1235-D063-7FF9-47A42DCF9FA0}"/>
              </a:ext>
            </a:extLst>
          </p:cNvPr>
          <p:cNvSpPr txBox="1"/>
          <p:nvPr/>
        </p:nvSpPr>
        <p:spPr>
          <a:xfrm>
            <a:off x="658906" y="1147483"/>
            <a:ext cx="78261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You will conduct this experiment on your own device. Any storage device(HDD/SSD…) is acceptable, provided you can justify your results. Ensure that you configure the FIO settings as specified for each question.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1017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975424-B9E1-2542-DF3B-9162306F0E65}"/>
              </a:ext>
            </a:extLst>
          </p:cNvPr>
          <p:cNvSpPr txBox="1"/>
          <p:nvPr/>
        </p:nvSpPr>
        <p:spPr>
          <a:xfrm>
            <a:off x="301658" y="416623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Outline</a:t>
            </a:r>
            <a:endParaRPr kumimoji="1"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3F04CFF-045B-0909-1DC0-D0550FDFDF76}"/>
              </a:ext>
            </a:extLst>
          </p:cNvPr>
          <p:cNvSpPr txBox="1"/>
          <p:nvPr/>
        </p:nvSpPr>
        <p:spPr>
          <a:xfrm>
            <a:off x="439614" y="1028702"/>
            <a:ext cx="87043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What is FIO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How to use FIO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Grading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Assignment Details</a:t>
            </a:r>
          </a:p>
        </p:txBody>
      </p:sp>
    </p:spTree>
    <p:extLst>
      <p:ext uri="{BB962C8B-B14F-4D97-AF65-F5344CB8AC3E}">
        <p14:creationId xmlns:p14="http://schemas.microsoft.com/office/powerpoint/2010/main" val="19980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535F9DC-ED4F-07AE-6842-B0FD2D9BF6B8}"/>
              </a:ext>
            </a:extLst>
          </p:cNvPr>
          <p:cNvSpPr txBox="1"/>
          <p:nvPr/>
        </p:nvSpPr>
        <p:spPr>
          <a:xfrm>
            <a:off x="301658" y="416623"/>
            <a:ext cx="2690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What is FIO ?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A038D53-7D51-383A-3DC2-5482CED64D65}"/>
              </a:ext>
            </a:extLst>
          </p:cNvPr>
          <p:cNvSpPr txBox="1"/>
          <p:nvPr/>
        </p:nvSpPr>
        <p:spPr>
          <a:xfrm>
            <a:off x="453600" y="1360800"/>
            <a:ext cx="84888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 err="1"/>
              <a:t>Fio</a:t>
            </a:r>
            <a:r>
              <a:rPr kumimoji="1" lang="en-US" altLang="zh-TW" sz="2000" dirty="0"/>
              <a:t> (Flexible I/O Tester) is a tool for benchmarking and testing storage devices and file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/>
              <a:t>For example, it helps us determine how fast a device performs under a specific workload, such as measuring the sequential read bandwidth of an SSD or HDD.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8199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90E817-834E-BBBE-4DC3-E0DABE85664F}"/>
              </a:ext>
            </a:extLst>
          </p:cNvPr>
          <p:cNvSpPr txBox="1"/>
          <p:nvPr/>
        </p:nvSpPr>
        <p:spPr>
          <a:xfrm>
            <a:off x="301658" y="416623"/>
            <a:ext cx="3373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How to use FIO ?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1F62C98-C169-C804-B336-17AF68E3C8C3}"/>
              </a:ext>
            </a:extLst>
          </p:cNvPr>
          <p:cNvSpPr txBox="1"/>
          <p:nvPr/>
        </p:nvSpPr>
        <p:spPr>
          <a:xfrm>
            <a:off x="439200" y="1016549"/>
            <a:ext cx="8488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Download FIO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Prepare an </a:t>
            </a:r>
            <a:r>
              <a:rPr kumimoji="1" lang="en-US" altLang="zh-TW" sz="2000" dirty="0" err="1"/>
              <a:t>fio</a:t>
            </a:r>
            <a:r>
              <a:rPr kumimoji="1" lang="en-US" altLang="zh-TW" sz="2000" dirty="0"/>
              <a:t> file(ex. q0.fio) and then run the command below.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It will begin benchmarking the settings described in your </a:t>
            </a:r>
            <a:r>
              <a:rPr kumimoji="1" lang="en-US" altLang="zh-TW" sz="2000" dirty="0" err="1"/>
              <a:t>fio</a:t>
            </a:r>
            <a:r>
              <a:rPr kumimoji="1" lang="en-US" altLang="zh-TW" sz="2000" dirty="0"/>
              <a:t> file and save the results to an output file. </a:t>
            </a:r>
            <a:r>
              <a:rPr kumimoji="1" lang="en-US" altLang="zh-TW" sz="2000" b="1" dirty="0"/>
              <a:t>Note that you may need </a:t>
            </a:r>
            <a:r>
              <a:rPr kumimoji="1" lang="en-US" altLang="zh-TW" sz="2000" b="1" dirty="0" err="1"/>
              <a:t>sudo</a:t>
            </a:r>
            <a:r>
              <a:rPr kumimoji="1" lang="en-US" altLang="zh-TW" sz="2000" b="1" dirty="0"/>
              <a:t> permissions.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b="1" dirty="0"/>
              <a:t>What is .</a:t>
            </a:r>
            <a:r>
              <a:rPr kumimoji="1" lang="en-US" altLang="zh-TW" sz="2000" b="1" dirty="0" err="1"/>
              <a:t>fio</a:t>
            </a:r>
            <a:r>
              <a:rPr kumimoji="1" lang="en-US" altLang="zh-TW" sz="2000" b="1" dirty="0"/>
              <a:t> file</a:t>
            </a:r>
            <a:r>
              <a:rPr kumimoji="1" lang="zh-TW" altLang="en-US" sz="2000" b="1" dirty="0"/>
              <a:t>？</a:t>
            </a:r>
            <a:endParaRPr kumimoji="1" lang="zh-TW" altLang="en-US" sz="1600" b="1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D5F5A1-CCFE-341C-AACC-CE03ABC02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850" y="2252348"/>
            <a:ext cx="41783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6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90E817-834E-BBBE-4DC3-E0DABE85664F}"/>
              </a:ext>
            </a:extLst>
          </p:cNvPr>
          <p:cNvSpPr txBox="1"/>
          <p:nvPr/>
        </p:nvSpPr>
        <p:spPr>
          <a:xfrm>
            <a:off x="301658" y="416623"/>
            <a:ext cx="3191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What is .</a:t>
            </a:r>
            <a:r>
              <a:rPr kumimoji="1" lang="en-US" altLang="zh-TW" sz="3200" dirty="0" err="1"/>
              <a:t>fio</a:t>
            </a:r>
            <a:r>
              <a:rPr kumimoji="1" lang="en-US" altLang="zh-TW" sz="3200" dirty="0"/>
              <a:t> file ?</a:t>
            </a:r>
            <a:endParaRPr kumimoji="1"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5C6C27-DF19-71B0-BD35-0AD6C7B12213}"/>
              </a:ext>
            </a:extLst>
          </p:cNvPr>
          <p:cNvSpPr txBox="1"/>
          <p:nvPr/>
        </p:nvSpPr>
        <p:spPr>
          <a:xfrm>
            <a:off x="388801" y="1008402"/>
            <a:ext cx="843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</a:rPr>
              <a:t>An </a:t>
            </a:r>
            <a:r>
              <a:rPr lang="en-US" altLang="zh-TW" sz="1800" b="1" dirty="0">
                <a:effectLst/>
              </a:rPr>
              <a:t>.</a:t>
            </a:r>
            <a:r>
              <a:rPr lang="en-US" altLang="zh-TW" sz="1800" b="1" dirty="0" err="1">
                <a:effectLst/>
              </a:rPr>
              <a:t>fio</a:t>
            </a:r>
            <a:r>
              <a:rPr lang="en-US" altLang="zh-TW" sz="1800" b="1" dirty="0">
                <a:effectLst/>
              </a:rPr>
              <a:t> file</a:t>
            </a:r>
            <a:r>
              <a:rPr lang="en-US" altLang="zh-TW" sz="1800" dirty="0">
                <a:effectLst/>
              </a:rPr>
              <a:t> (often called a job file) is a plain-text </a:t>
            </a:r>
            <a:r>
              <a:rPr lang="en-US" altLang="zh-TW" sz="1800" b="1" dirty="0">
                <a:effectLst/>
              </a:rPr>
              <a:t>configuration file </a:t>
            </a:r>
            <a:r>
              <a:rPr lang="en-US" altLang="zh-TW" sz="1800" dirty="0">
                <a:effectLst/>
              </a:rPr>
              <a:t>used by the </a:t>
            </a:r>
            <a:r>
              <a:rPr lang="en-US" altLang="zh-TW" sz="1800" dirty="0" err="1">
                <a:effectLst/>
              </a:rPr>
              <a:t>fio</a:t>
            </a:r>
            <a:r>
              <a:rPr lang="en-US" altLang="zh-TW" sz="1800" dirty="0">
                <a:effectLst/>
              </a:rPr>
              <a:t> tool to define exactly how a storage benchmark should run.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800" b="1" dirty="0">
                <a:solidFill>
                  <a:srgbClr val="FF0000"/>
                </a:solidFill>
                <a:effectLst/>
              </a:rPr>
              <a:t>You will need to adjust different FIO settings for each question in your homework.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800" dirty="0">
                <a:effectLst/>
              </a:rPr>
              <a:t>For example,</a:t>
            </a:r>
            <a:r>
              <a:rPr lang="en-US" altLang="zh-TW" sz="1800" dirty="0"/>
              <a:t> y</a:t>
            </a:r>
            <a:r>
              <a:rPr lang="en-US" altLang="zh-TW" sz="1800" dirty="0">
                <a:effectLst/>
              </a:rPr>
              <a:t>ou can set </a:t>
            </a:r>
            <a:r>
              <a:rPr lang="en-US" altLang="zh-TW" sz="1800" dirty="0" err="1">
                <a:effectLst/>
              </a:rPr>
              <a:t>rw</a:t>
            </a:r>
            <a:r>
              <a:rPr lang="en-US" altLang="zh-TW" sz="1800" dirty="0">
                <a:effectLst/>
              </a:rPr>
              <a:t>=read or </a:t>
            </a:r>
            <a:r>
              <a:rPr lang="en-US" altLang="zh-TW" sz="1800" dirty="0" err="1">
                <a:effectLst/>
              </a:rPr>
              <a:t>rw</a:t>
            </a:r>
            <a:r>
              <a:rPr lang="en-US" altLang="zh-TW" sz="1800" dirty="0">
                <a:effectLst/>
              </a:rPr>
              <a:t>=</a:t>
            </a:r>
            <a:r>
              <a:rPr lang="en-US" altLang="zh-TW" sz="1800" dirty="0" err="1">
                <a:effectLst/>
              </a:rPr>
              <a:t>randread</a:t>
            </a:r>
            <a:r>
              <a:rPr lang="en-US" altLang="zh-TW" sz="1800" dirty="0">
                <a:effectLst/>
              </a:rPr>
              <a:t> to benchmark different settings; more details can be found on the </a:t>
            </a:r>
            <a:r>
              <a:rPr lang="en-US" altLang="zh-TW" sz="1800" dirty="0" err="1">
                <a:effectLst/>
                <a:hlinkClick r:id="rId2"/>
              </a:rPr>
              <a:t>fio</a:t>
            </a:r>
            <a:r>
              <a:rPr lang="en-US" altLang="zh-TW" sz="1800" dirty="0">
                <a:effectLst/>
                <a:hlinkClick r:id="rId2"/>
              </a:rPr>
              <a:t> website</a:t>
            </a:r>
            <a:r>
              <a:rPr lang="en-US" altLang="zh-TW" sz="1800" dirty="0">
                <a:effectLst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TW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zh-TW" altLang="en-US" sz="1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A0BECD1-44F1-D308-7A8F-0046654BF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542" y="3293154"/>
            <a:ext cx="3912914" cy="144715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9492156-65E1-A388-C076-1BB3034CC9B0}"/>
              </a:ext>
            </a:extLst>
          </p:cNvPr>
          <p:cNvSpPr txBox="1"/>
          <p:nvPr/>
        </p:nvSpPr>
        <p:spPr>
          <a:xfrm>
            <a:off x="4106967" y="4740311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▲</a:t>
            </a:r>
            <a:r>
              <a:rPr kumimoji="1" lang="zh-TW" altLang="en-US" dirty="0"/>
              <a:t> </a:t>
            </a:r>
            <a:r>
              <a:rPr kumimoji="1" lang="en-US" altLang="zh-TW" dirty="0"/>
              <a:t>.</a:t>
            </a:r>
            <a:r>
              <a:rPr kumimoji="1" lang="en-US" altLang="zh-TW" dirty="0" err="1"/>
              <a:t>fio</a:t>
            </a:r>
            <a:r>
              <a:rPr kumimoji="1" lang="en-US" altLang="zh-TW" dirty="0"/>
              <a:t> file</a:t>
            </a:r>
            <a:endParaRPr kumimoji="1"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A110F2-6555-C7D6-E55F-359F5F95DF8F}"/>
              </a:ext>
            </a:extLst>
          </p:cNvPr>
          <p:cNvSpPr/>
          <p:nvPr/>
        </p:nvSpPr>
        <p:spPr>
          <a:xfrm>
            <a:off x="2670650" y="4531740"/>
            <a:ext cx="603197" cy="151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354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90E817-834E-BBBE-4DC3-E0DABE85664F}"/>
              </a:ext>
            </a:extLst>
          </p:cNvPr>
          <p:cNvSpPr txBox="1"/>
          <p:nvPr/>
        </p:nvSpPr>
        <p:spPr>
          <a:xfrm>
            <a:off x="301658" y="416623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Caution !</a:t>
            </a:r>
            <a:endParaRPr kumimoji="1"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ABDF79-9F61-2EA6-8DF9-33E611C058E4}"/>
              </a:ext>
            </a:extLst>
          </p:cNvPr>
          <p:cNvSpPr txBox="1"/>
          <p:nvPr/>
        </p:nvSpPr>
        <p:spPr>
          <a:xfrm>
            <a:off x="475200" y="1000899"/>
            <a:ext cx="83671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/>
              <a:t>You can assign the filename parameter to either a specific file path (e.g., /home/</a:t>
            </a:r>
            <a:r>
              <a:rPr kumimoji="1" lang="en-US" altLang="zh-TW" sz="1600" dirty="0" err="1"/>
              <a:t>kaca</a:t>
            </a:r>
            <a:r>
              <a:rPr kumimoji="1" lang="en-US" altLang="zh-TW" sz="1600" dirty="0"/>
              <a:t>/file) or a raw block device (e.g., /dev/</a:t>
            </a:r>
            <a:r>
              <a:rPr kumimoji="1" lang="en-US" altLang="zh-TW" sz="1600" dirty="0" err="1"/>
              <a:t>sdb</a:t>
            </a:r>
            <a:r>
              <a:rPr kumimoji="1" lang="en-US" altLang="zh-TW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b="1" dirty="0">
                <a:solidFill>
                  <a:srgbClr val="FF0000"/>
                </a:solidFill>
              </a:rPr>
              <a:t>Writing directly to a raw disk device is destructive. It bypasses the filesystem and partition table, which can permanently overwrite existing data.</a:t>
            </a:r>
            <a:endParaRPr kumimoji="1" lang="en-US" altLang="zh-TW" sz="16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To prevent accidental data loss, you should create a pre-allocated test file on a mounted filesystem. </a:t>
            </a:r>
            <a:endParaRPr kumimoji="1" lang="zh-TW" altLang="en-US" sz="16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D76B1E4-CAD9-5346-401A-FB3D15A6C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72" y="3323875"/>
            <a:ext cx="3899654" cy="144225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BE32CEA-668E-5AD4-1F90-A5A7CAFF9662}"/>
              </a:ext>
            </a:extLst>
          </p:cNvPr>
          <p:cNvSpPr txBox="1"/>
          <p:nvPr/>
        </p:nvSpPr>
        <p:spPr>
          <a:xfrm>
            <a:off x="4106968" y="4780780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▲</a:t>
            </a:r>
            <a:r>
              <a:rPr kumimoji="1" lang="zh-TW" altLang="en-US" dirty="0"/>
              <a:t> </a:t>
            </a:r>
            <a:r>
              <a:rPr kumimoji="1" lang="en-US" altLang="zh-TW" dirty="0"/>
              <a:t>.</a:t>
            </a:r>
            <a:r>
              <a:rPr kumimoji="1" lang="en-US" altLang="zh-TW" dirty="0" err="1"/>
              <a:t>fio</a:t>
            </a:r>
            <a:r>
              <a:rPr kumimoji="1" lang="en-US" altLang="zh-TW" dirty="0"/>
              <a:t> file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4397D4-8C57-002E-D2D1-6CC42C475A0B}"/>
              </a:ext>
            </a:extLst>
          </p:cNvPr>
          <p:cNvSpPr/>
          <p:nvPr/>
        </p:nvSpPr>
        <p:spPr>
          <a:xfrm>
            <a:off x="2723990" y="3564000"/>
            <a:ext cx="603197" cy="151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024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79B627E-40F0-D0CB-8C2C-80760BC75EB8}"/>
              </a:ext>
            </a:extLst>
          </p:cNvPr>
          <p:cNvSpPr txBox="1"/>
          <p:nvPr/>
        </p:nvSpPr>
        <p:spPr>
          <a:xfrm>
            <a:off x="301658" y="246295"/>
            <a:ext cx="2303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Submission</a:t>
            </a:r>
            <a:endParaRPr kumimoji="1"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A76548-F880-7CC8-0C17-BDF388148814}"/>
              </a:ext>
            </a:extLst>
          </p:cNvPr>
          <p:cNvSpPr txBox="1"/>
          <p:nvPr/>
        </p:nvSpPr>
        <p:spPr>
          <a:xfrm>
            <a:off x="433672" y="748411"/>
            <a:ext cx="805589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/>
              <a:t>You will need to answer the questions in a .pdf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/>
              <a:t>Please attach the .</a:t>
            </a:r>
            <a:r>
              <a:rPr kumimoji="1" lang="en-US" altLang="zh-TW" sz="1600" dirty="0" err="1"/>
              <a:t>fio</a:t>
            </a:r>
            <a:r>
              <a:rPr kumimoji="1" lang="en-US" altLang="zh-TW" sz="1600" dirty="0"/>
              <a:t> source code outside the report additionally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/>
              <a:t>All your files should be organized in the following hierarchy and zipped into a .zip file, named HW1_&lt;student ID&gt;.zip (e.g. HW1_312551000.zip)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1600" dirty="0"/>
              <a:t>Deadline</a:t>
            </a:r>
            <a:r>
              <a:rPr kumimoji="1" lang="zh-TW" altLang="en-US" sz="1600" dirty="0"/>
              <a:t>：</a:t>
            </a:r>
            <a:r>
              <a:rPr kumimoji="1" lang="en-US" altLang="zh-TW" sz="1600" b="1" dirty="0"/>
              <a:t>2026/4/16 - 23:59</a:t>
            </a:r>
            <a:r>
              <a:rPr kumimoji="1" lang="zh-TW" altLang="en-US" sz="1600" dirty="0"/>
              <a:t> </a:t>
            </a:r>
            <a:endParaRPr kumimoji="1" lang="en-US" altLang="zh-TW" sz="1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43693C-522B-F5BE-46BE-AD07F8324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448" y="2716306"/>
            <a:ext cx="2437951" cy="212152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1EF2C42-C759-A2C6-7E09-3DB0AB654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002" y="2716306"/>
            <a:ext cx="2312149" cy="212152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AA3AA17-1DD6-C85D-26ED-BA31CB53EE0D}"/>
              </a:ext>
            </a:extLst>
          </p:cNvPr>
          <p:cNvSpPr txBox="1"/>
          <p:nvPr/>
        </p:nvSpPr>
        <p:spPr>
          <a:xfrm>
            <a:off x="3269702" y="4837826"/>
            <a:ext cx="22926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▲</a:t>
            </a:r>
            <a:r>
              <a:rPr kumimoji="1" lang="zh-TW" altLang="en-US" dirty="0"/>
              <a:t> </a:t>
            </a:r>
            <a:r>
              <a:rPr kumimoji="1" lang="en-US" altLang="zh-TW" dirty="0"/>
              <a:t>submission architecture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5932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80CE25B-5677-8EB5-D014-2A49F6EDE64B}"/>
              </a:ext>
            </a:extLst>
          </p:cNvPr>
          <p:cNvSpPr txBox="1"/>
          <p:nvPr/>
        </p:nvSpPr>
        <p:spPr>
          <a:xfrm>
            <a:off x="301658" y="416623"/>
            <a:ext cx="2850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Grading Policy</a:t>
            </a:r>
            <a:endParaRPr kumimoji="1"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736A6E2-E9FC-162C-19E4-807BF19E229D}"/>
              </a:ext>
            </a:extLst>
          </p:cNvPr>
          <p:cNvSpPr txBox="1"/>
          <p:nvPr/>
        </p:nvSpPr>
        <p:spPr>
          <a:xfrm>
            <a:off x="648837" y="1060534"/>
            <a:ext cx="77152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Each question will be classified into one of the following four reward </a:t>
            </a:r>
            <a:r>
              <a:rPr kumimoji="1" lang="en-US" altLang="zh-TW" sz="2000" dirty="0" err="1"/>
              <a:t>tiers:excellent</a:t>
            </a:r>
            <a:r>
              <a:rPr kumimoji="1" lang="en-US" altLang="zh-TW" sz="2000" dirty="0"/>
              <a:t> (100%), good (70%), bad (30%), fail (0%)</a:t>
            </a:r>
          </a:p>
          <a:p>
            <a:endParaRPr kumimoji="1" lang="en-US" altLang="zh-TW" sz="2000" dirty="0"/>
          </a:p>
          <a:p>
            <a:r>
              <a:rPr kumimoji="1" lang="en-US" altLang="zh-TW" sz="2000" b="1" dirty="0">
                <a:solidFill>
                  <a:srgbClr val="FF0000"/>
                </a:solidFill>
              </a:rPr>
              <a:t>You will get NO POINT when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do not follow the submission rule including file name and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cheating including any suspected plagiarism in source code or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late submission 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27907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3B3B85B-0701-5AC6-979A-3CFD4E7AB8F1}"/>
              </a:ext>
            </a:extLst>
          </p:cNvPr>
          <p:cNvSpPr txBox="1"/>
          <p:nvPr/>
        </p:nvSpPr>
        <p:spPr>
          <a:xfrm>
            <a:off x="301658" y="416623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/>
              <a:t>Question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951B68A-8045-ECF0-BF97-AC586E320CF5}"/>
              </a:ext>
            </a:extLst>
          </p:cNvPr>
          <p:cNvSpPr txBox="1"/>
          <p:nvPr/>
        </p:nvSpPr>
        <p:spPr>
          <a:xfrm>
            <a:off x="439615" y="1135382"/>
            <a:ext cx="87043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If you have questions regarding the assignment, please reach out to the TA through the Discussion Forum on E3.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724157720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113784</TotalTime>
  <Words>510</Words>
  <Application>Microsoft Macintosh PowerPoint</Application>
  <PresentationFormat>如螢幕大小 (16:9)</PresentationFormat>
  <Paragraphs>62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Arial</vt:lpstr>
      <vt:lpstr>PPTMON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佳誠 楊</cp:lastModifiedBy>
  <cp:revision>781</cp:revision>
  <dcterms:modified xsi:type="dcterms:W3CDTF">2026-03-14T02:00:01Z</dcterms:modified>
</cp:coreProperties>
</file>